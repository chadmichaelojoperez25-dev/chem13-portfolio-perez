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583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01 — PROPANE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3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10" y="1965961"/>
            <a:ext cx="4340860" cy="210311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/>
          <a:srcRect l="39287" r="4631"/>
          <a:stretch/>
        </p:blipFill>
        <p:spPr>
          <a:xfrm>
            <a:off x="548640" y="4663439"/>
            <a:ext cx="4342130" cy="187096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5"/>
          <a:srcRect l="7500" t="26807" r="7222" b="25302"/>
          <a:stretch/>
        </p:blipFill>
        <p:spPr>
          <a:xfrm>
            <a:off x="5280660" y="1965961"/>
            <a:ext cx="4083809" cy="211506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0660" y="4677681"/>
            <a:ext cx="4083808" cy="18567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02 — ETHANOL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2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6</a:t>
            </a:r>
            <a:r>
              <a:rPr lang="en-US" sz="1600" dirty="0">
                <a:solidFill>
                  <a:srgbClr val="FFFFFF"/>
                </a:solidFill>
              </a:rPr>
              <a:t>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783" y="4663440"/>
            <a:ext cx="3092554" cy="202161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784" y="2092960"/>
            <a:ext cx="3175112" cy="190884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84" y="4800600"/>
            <a:ext cx="3631335" cy="187317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335" y="1947946"/>
            <a:ext cx="4265450" cy="20538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03 — ACETONE (PROPAN-2-ONE)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3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6</a:t>
            </a:r>
            <a:r>
              <a:rPr lang="en-US" sz="1600" dirty="0">
                <a:solidFill>
                  <a:srgbClr val="FFFFFF"/>
                </a:solidFill>
              </a:rPr>
              <a:t>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143" y="4663440"/>
            <a:ext cx="2625833" cy="199368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805" y="2011680"/>
            <a:ext cx="3129070" cy="198239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30" y="4754880"/>
            <a:ext cx="3833970" cy="189272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214" y="1946620"/>
            <a:ext cx="3867690" cy="2076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04 — ACETIC ACID (ETHANOIC ACID)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2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4</a:t>
            </a:r>
            <a:r>
              <a:rPr lang="en-US" sz="1600" dirty="0">
                <a:solidFill>
                  <a:srgbClr val="FFFFFF"/>
                </a:solidFill>
              </a:rPr>
              <a:t>O</a:t>
            </a:r>
            <a:r>
              <a:rPr lang="en-US" sz="1600" baseline="-40000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850" y="4663440"/>
            <a:ext cx="2483750" cy="202787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632" y="2100580"/>
            <a:ext cx="2899668" cy="179361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8" y="4853871"/>
            <a:ext cx="3740302" cy="170610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055" y="2011680"/>
            <a:ext cx="4212267" cy="1973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05 — ETHYL ACETATE (ETHYL ETHANOATE)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4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8</a:t>
            </a:r>
            <a:r>
              <a:rPr lang="en-US" sz="1600" dirty="0">
                <a:solidFill>
                  <a:srgbClr val="FFFFFF"/>
                </a:solidFill>
              </a:rPr>
              <a:t>O</a:t>
            </a:r>
            <a:r>
              <a:rPr lang="en-US" sz="1600" baseline="-40000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1547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825" y="4663440"/>
            <a:ext cx="3577875" cy="207316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43" y="2016992"/>
            <a:ext cx="3651993" cy="193871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15" y="4884298"/>
            <a:ext cx="4163178" cy="131168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2082" y="2016992"/>
            <a:ext cx="3771360" cy="2031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06 — CYCLOHEXANE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6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224" y="4696460"/>
            <a:ext cx="2724275" cy="198524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088" y="2113280"/>
            <a:ext cx="3071912" cy="18967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15" y="4858507"/>
            <a:ext cx="4424050" cy="125578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8175" y="1965960"/>
            <a:ext cx="2321494" cy="20909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07 — CYCLOHEXANONE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6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10</a:t>
            </a:r>
            <a:r>
              <a:rPr lang="en-US" sz="1600" dirty="0">
                <a:solidFill>
                  <a:srgbClr val="FFFFFF"/>
                </a:solidFill>
              </a:rPr>
              <a:t>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94" y="2156375"/>
            <a:ext cx="3497026" cy="183450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640" y="4757356"/>
            <a:ext cx="3948260" cy="171508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122" y="4632556"/>
            <a:ext cx="2471875" cy="201810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122" y="2005515"/>
            <a:ext cx="2353828" cy="20625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08 — ACETAMINOPHEN (PARACETAMOL)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8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9</a:t>
            </a:r>
            <a:r>
              <a:rPr lang="en-US" sz="1600" dirty="0">
                <a:solidFill>
                  <a:srgbClr val="FFFFFF"/>
                </a:solidFill>
              </a:rPr>
              <a:t>NO</a:t>
            </a:r>
            <a:r>
              <a:rPr lang="en-US" sz="1600" baseline="-40000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20" y="2078300"/>
            <a:ext cx="4043480" cy="187325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33" y="4786246"/>
            <a:ext cx="4319167" cy="124625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452" y="4601791"/>
            <a:ext cx="2791215" cy="204816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200" y="1953551"/>
            <a:ext cx="4248743" cy="2076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09 — ASPIRIN (ACETYLSALICYLIC ACID)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9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8</a:t>
            </a:r>
            <a:r>
              <a:rPr lang="en-US" sz="1600" dirty="0">
                <a:solidFill>
                  <a:srgbClr val="FFFFFF"/>
                </a:solidFill>
              </a:rPr>
              <a:t>O</a:t>
            </a:r>
            <a:r>
              <a:rPr lang="en-US" sz="1600" baseline="-40000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524" y="1965960"/>
            <a:ext cx="2661776" cy="207027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211" y="4663440"/>
            <a:ext cx="3057697" cy="203420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56" y="2103120"/>
            <a:ext cx="3914397" cy="151737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6"/>
          <a:srcRect t="7240" b="11010"/>
          <a:stretch/>
        </p:blipFill>
        <p:spPr>
          <a:xfrm>
            <a:off x="558800" y="4986020"/>
            <a:ext cx="4313592" cy="10744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CARD 10 — CAFFEINE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Molecular Formula: C</a:t>
            </a:r>
            <a:r>
              <a:rPr lang="en-US" sz="1600" baseline="-40000" dirty="0">
                <a:solidFill>
                  <a:srgbClr val="FFFFFF"/>
                </a:solidFill>
              </a:rPr>
              <a:t>8</a:t>
            </a:r>
            <a:r>
              <a:rPr lang="en-US" sz="1600" dirty="0">
                <a:solidFill>
                  <a:srgbClr val="FFFFFF"/>
                </a:solidFill>
              </a:rPr>
              <a:t>H</a:t>
            </a:r>
            <a:r>
              <a:rPr lang="en-US" sz="1600" baseline="-40000" dirty="0">
                <a:solidFill>
                  <a:srgbClr val="FFFFFF"/>
                </a:solidFill>
              </a:rPr>
              <a:t>10</a:t>
            </a:r>
            <a:r>
              <a:rPr lang="en-US" sz="1600" dirty="0">
                <a:solidFill>
                  <a:srgbClr val="FFFFFF"/>
                </a:solidFill>
              </a:rPr>
              <a:t>N</a:t>
            </a:r>
            <a:r>
              <a:rPr lang="en-US" sz="1600" baseline="-40000" dirty="0">
                <a:solidFill>
                  <a:srgbClr val="FFFFFF"/>
                </a:solidFill>
              </a:rPr>
              <a:t>4</a:t>
            </a:r>
            <a:r>
              <a:rPr lang="en-US" sz="1600" dirty="0">
                <a:solidFill>
                  <a:srgbClr val="FFFFFF"/>
                </a:solidFill>
              </a:rPr>
              <a:t>O</a:t>
            </a:r>
            <a:r>
              <a:rPr lang="en-US" sz="1600" baseline="-40000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1. MOLECULAR FORMULA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formula here]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155448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645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2. LEWIS 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5603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digital Lewis structure here]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3. CONDENSED STRUCTURAL FORMULA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[place condensed formula here]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4206240"/>
            <a:ext cx="4526280" cy="2560320"/>
          </a:xfrm>
          <a:prstGeom prst="rect">
            <a:avLst/>
          </a:prstGeom>
          <a:solidFill>
            <a:srgbClr val="EAF1F8"/>
          </a:solidFill>
          <a:ln w="12700">
            <a:solidFill>
              <a:srgbClr val="B8C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4. BOND-LINE FORMULA (KETCHER)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52120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</a:rPr>
              <a:t>[insert exported Ketcher structure here]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6903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☐ atom count verified    ☐ valence checked    ☐ bond order checked    ☐ same connectivity confirmed</a:t>
            </a:r>
            <a:endParaRPr lang="en-US" sz="11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77" y="2103120"/>
            <a:ext cx="3367223" cy="19075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07" y="4942445"/>
            <a:ext cx="4295448" cy="95543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32" y="4663440"/>
            <a:ext cx="2372056" cy="199100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32" y="1910626"/>
            <a:ext cx="2400300" cy="21127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710</Words>
  <Application>Microsoft Office PowerPoint</Application>
  <PresentationFormat>Custom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A2E</cp:lastModifiedBy>
  <cp:revision>18</cp:revision>
  <dcterms:created xsi:type="dcterms:W3CDTF">2026-10-16T13:42:58Z</dcterms:created>
  <dcterms:modified xsi:type="dcterms:W3CDTF">2026-10-16T19:02:29Z</dcterms:modified>
</cp:coreProperties>
</file>